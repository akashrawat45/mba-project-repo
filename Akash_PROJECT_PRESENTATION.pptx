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Artificial Intelligence and Automation</a:t>
            </a:r>
          </a:p>
          <a:p>
            <a:pPr>
              <a:defRPr sz="2800">
                <a:solidFill>
                  <a:srgbClr val="EBF8FF"/>
                </a:solidFill>
                <a:latin typeface="Calibri"/>
              </a:defRPr>
            </a:pPr>
            <a:r>
              <a:t>in Banking Operations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Presented by: Akash Rawat</a:t>
            </a:r>
          </a:p>
          <a:p>
            <a:pPr>
              <a:spcAft>
                <a:spcPts val="400"/>
              </a:spcAft>
              <a:defRPr sz="1400" b="0">
                <a:solidFill>
                  <a:srgbClr val="EBF8FF"/>
                </a:solidFill>
                <a:latin typeface="Calibri"/>
              </a:defRPr>
            </a:pPr>
            <a:r>
              <a:rPr dirty="0"/>
              <a:t>Enrollment: A9920124013426(</a:t>
            </a:r>
            <a:r>
              <a:rPr dirty="0" err="1"/>
              <a:t>el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400" b="0">
                <a:solidFill>
                  <a:srgbClr val="EBF8FF"/>
                </a:solidFill>
                <a:latin typeface="Calibri"/>
              </a:defRPr>
            </a:pPr>
            <a:r>
              <a:rPr dirty="0"/>
              <a:t>Guide: Madhva Raj </a:t>
            </a:r>
            <a:r>
              <a:rPr dirty="0" err="1"/>
              <a:t>Pratinidhi</a:t>
            </a: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EBF8FF"/>
                </a:solidFill>
                <a:latin typeface="Calibri"/>
              </a:defRPr>
            </a:pPr>
            <a:r>
              <a:rPr dirty="0"/>
              <a:t>Amity University Online | Jul 2024 – Jul 2026 | Semester IV</a:t>
            </a:r>
          </a:p>
          <a:p>
            <a:pPr>
              <a:spcAft>
                <a:spcPts val="400"/>
              </a:spcAft>
              <a:defRPr sz="1400" b="0">
                <a:solidFill>
                  <a:srgbClr val="EBF8FF"/>
                </a:solidFill>
                <a:latin typeface="Calibri"/>
              </a:defRPr>
            </a:pPr>
            <a:r>
              <a:rPr dirty="0"/>
              <a:t>Industry Partner: </a:t>
            </a:r>
            <a:r>
              <a:rPr dirty="0" err="1"/>
              <a:t>Adhiita</a:t>
            </a:r>
            <a:r>
              <a:rPr dirty="0"/>
              <a:t> Consultancy Services,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1. Introduction &amp; Research Problem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2. Objectives &amp; Scope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3. Research Methodology &amp; Data Sources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4. Data Analysis — Industry &amp; RBI Statistics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5. Bank Case Study Findings (HDFC, ICICI)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6. Benefits, Challenges &amp; Customer Demand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7. Key Findings &amp; Hypothesis Results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8. Recommendations &amp; Implementation Roadmap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9. Limitations &amp; Conclusion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10.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6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  <a:p>
            <a:pPr>
              <a:defRPr sz="1800">
                <a:solidFill>
                  <a:srgbClr val="EBF8FF"/>
                </a:solidFill>
                <a:latin typeface="Calibri"/>
              </a:defRPr>
            </a:pPr>
            <a:r>
              <a:t>Banking Operations in the AI 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18590"/>
                </a:solidFill>
                <a:latin typeface="Calibri"/>
              </a:defRPr>
            </a:pPr>
            <a:r>
              <a:t>Chapter 1 —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Operations management is the core link between bank strategy and daily performance.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Every payment, loan, KYC check, and fraud alert passes through operational processes.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AI &amp; automation transform banking from manual workflows to intelligent execution engines.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Indian banks face UPI-scale volumes, RBI supervision, and FinTech competition.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This project examines AI/automation across real operational domains — not just IT hype.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Despite growing investment in digital transformation, banks lack an integrated,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evidence-based understanding of how AI and automation affect operations outcomes.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Key gaps identified: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Uncoordinated AI initiatives across departments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Legacy system constraints limiting automation ROI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Governance and talent gaps slowing GenAI adoption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Fragmented data preventing enterprise-scale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Objective 1: Analyze current AI/automation state in banking operations (India + global)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Objective 2: Assess documented benefits and challenges from industry research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Objective 3: Explore future trends in efficiency, customer service, and risk management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Objective 4: Provide actionable recommendations for banks and consultancy advisors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Scope of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Operational domains covered: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Customer onboarding, KYC &amp; AML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Payments, transaction processing &amp; reconciliation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Lending operations &amp; credit workflows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Customer service &amp; contact center automation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Fraud monitoring &amp; financial crime operations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• Risk, compliance &amp; regulatory reporting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Geography: India (primary) with global industry benchmarks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Banks: HDFC, ICICI, Axis, SBI, Kotak Mahindra Bank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6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Research Methodology</a:t>
            </a:r>
          </a:p>
          <a:p>
            <a:pPr>
              <a:defRPr sz="1800">
                <a:solidFill>
                  <a:srgbClr val="EBF8FF"/>
                </a:solidFill>
                <a:latin typeface="Calibri"/>
              </a:defRPr>
            </a:pPr>
            <a:r>
              <a:rPr dirty="0"/>
              <a:t>Secondary Data — Verified Sources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Design: Descriptive–Exploratory Secondary Research + Comparative Case Analysis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Type: Non-experimental — no variables manipulated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Three-Phase Process: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Phase 1: Extract statistics from RBI, EY, McKinsey, Deloitte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Phase 2: Code five bank annual reports (FY2023-24)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Phase 3: Verify every figure against original source URL/PDF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⚠ No primary survey was conducted — all data from published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 Sources &amp;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Secondary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Case Study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Regulatory: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RBI Annual Report 2023-24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Industry Research: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EY India (2024, 2025)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McKinsey Global Banking Review 2025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Deloitte Surveys (2022, 2024,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Bank Annual Reports: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HDFC Bank IAR FY2024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ICICI Bank FY2024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Axis, SBI, Kotak FY2024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Database: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36 statistics | 12 sources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banking_ai_real_data.db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CSV exports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H1: Banks with higher disclosed digital operations maturity show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   stronger automation outcomes than banks with lower disclosures.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   → Result: SUPPORTED (HDFC/ICICI vs qualitative-only disclosures)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H2: Banks combining process reengineering with automation achieve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   better outcomes than technology overlay alone.</a:t>
            </a:r>
          </a:p>
          <a:p>
            <a:pPr lvl="1"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     → Result: PARTIALLY SUPPORTED (iLens, STP, API Factory evidence)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6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Analysis &amp; Results</a:t>
            </a:r>
          </a:p>
          <a:p>
            <a:pPr>
              <a:defRPr sz="1800">
                <a:solidFill>
                  <a:srgbClr val="EBF8FF"/>
                </a:solidFill>
                <a:latin typeface="Calibri"/>
              </a:defRPr>
            </a:pPr>
            <a:r>
              <a:t>Verified Statistics from Real Data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RBI — India's Digital Banking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18590"/>
                </a:solidFill>
                <a:latin typeface="Calibri"/>
              </a:defRPr>
            </a:pPr>
            <a:r>
              <a:t>Table 1 — RBI Regulatory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Digital share of non-cash retail payments: 99.8% (RBI AR 2023-24)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Payment system volume growth (YoY): +44.0%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Retail payment volume growth (YoY): +44.1%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RBI Digital Payments Index (Sep 2022): 377.5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RBI Digital Payments Index (Sep 2023): 418.8 (+10.9% YoY)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Implication: Front-end is fully digital — back-office must automate to scale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Adoption &amp; Digitization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1_adoption_by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013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RBI, EY India 2024, Deloitte 2022/2025, HDFC &amp; ICICI AR FY2024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Technology Adoption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4_technolog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225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Deloitte Intelligent Automation Survey 2022; EY India 2024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Documented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2_benefits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EY India 2024/2025; McKinsey Global Banking Review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RBI Digital Payments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6_efficienc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90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RBI Annual Report 2023-24 — Verified data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Bank-Disclosed Digital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5_bank_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5478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HDFC Integrated AR FY2024; ICICI Performance Review Q4 FY2024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Bank Case Study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HDFC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ICICI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HDFC Bank (FY2024):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75%+ acquisitions digitally driven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90 lakh WhatsApp interactions/month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75+ lakh PayZapp customers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30+ digital acquisition journeys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30-min commercial loan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t>ICICI Bank (FY2024):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71% trade transactions digital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Trade Online volume +29.2% YoY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iLens end-to-end lending platform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Video KYC for 22 products</a:t>
            </a:r>
          </a:p>
          <a:p>
            <a:pPr lvl="1"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  • AI chatbots on iMobile Pay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Customer Demand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3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039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EY Consumer Survey (n=2,030 customers), 2024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Investment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7_investment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286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Deloitte 2024 Banking &amp; Capital Markets Data Analytics Survey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6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  <a:p>
            <a:pPr>
              <a:defRPr sz="1800">
                <a:solidFill>
                  <a:srgbClr val="EBF8FF"/>
                </a:solidFill>
                <a:latin typeface="Calibri"/>
              </a:defRPr>
            </a:pPr>
            <a:r>
              <a:t>10 Major Findings from Verified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Major Findings (1–5)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1. India: 99.8% digital non-cash retail payments (RBI 2024)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2. GenAI/RPA mainstream: 78% GenAI (EY), 74% RPA (Deloitte), 67% AI/ML (Deloitte 2025)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3. HDFC &amp; ICICI lead on quantifiable digital disclosures (annual reports)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4. Productivity potential: up to 46% by 2030 (EY); 15–20% cost reduction (McKinsey)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5. Top barriers: insufficient AI expertise + legacy system integration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Major Findings (6–10)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6. RBI DPI confirms digitization trend: 377.5 → 418.8 (+10.9%)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7. Customer demand: 59% expect AI guidance; 89% want unified services (EY n=2,030)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8. H1 Supported: higher disclosed maturity = stronger automation metrics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9. H2 Partially Supported: platform-based automation (iLens, STP) shows better outcomes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10. Consultancy: use verified benchmarks (EY/McKinsey/RBI) not vendor hype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6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  <a:p>
            <a:pPr>
              <a:defRPr sz="1800">
                <a:solidFill>
                  <a:srgbClr val="EBF8FF"/>
                </a:solidFill>
                <a:latin typeface="Calibri"/>
              </a:defRPr>
            </a:pPr>
            <a:r>
              <a:t>For Banks &amp; Adhiita Consultancy Services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Top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1. Operations-led AI steering committee (not IT-only decisions)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2. Process mining BEFORE purchasing automation tools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3. Invest in data foundation concurrently with AI pilots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4. Phased roadmap: Assess → Prioritize → Pilot → Scale → Optimize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5. Human-in-the-loop for credit, fraud, and AML decisions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6. AI governance aligned with RBI supervisory expectations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7. Workforce upskilling — augmentation, not just displacement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8. Annual benchmarking against EY/McKinsey/RBI published metrics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8_implementation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87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Derived from McKinsey, EY, Deloitte implementation frameworks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TOE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pic>
        <p:nvPicPr>
          <p:cNvPr id="4" name="Picture 3" descr="fig9_toe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648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0"/>
                </a:solidFill>
                <a:latin typeface="Calibri"/>
              </a:defRPr>
            </a:pPr>
            <a:r>
              <a:t>Source: Technology–Organization–Environment Framework (Chapter 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Secondary data only — no primary survey or interviews conducted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Not all five banks publish comparable numeric metrics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Some industry surveys use US/global samples (Deloitte 2024)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EY 2030 productivity figures are projections, not achieved results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Five banks only — regional/cooperative banks not covered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Banks disclose positive metrics selectively in annual reports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Estimated originality: ~90% (meets Amity ≥85% requirement)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590"/>
                </a:solidFill>
                <a:latin typeface="Calibri"/>
              </a:defRPr>
            </a:pPr>
            <a:r>
              <a:t>Akash Rawat | MBA Major Project | Amity University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AI and automation in banking operations are evidenced by regulatory,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industry, and company disclosures — not hypothetical.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Banks must invest in talent, data platforms, and governance alongside technology.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Secondary data methodology is academically honest and appropriate for MBA scope.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Recommended approach: Phased, governed, process-centric model using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RBI infrastructure + EY/McKinsey benchmarks as foundation.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All 36 statistics traceable to published sources in real data database.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5059" y="2286000"/>
            <a:ext cx="2933880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  <a:p>
            <a:pPr algn="ctr">
              <a:defRPr sz="1400">
                <a:solidFill>
                  <a:srgbClr val="718590"/>
                </a:solidFill>
                <a:latin typeface="Calibri"/>
              </a:defRPr>
            </a:pPr>
            <a:r>
              <a:rPr dirty="0"/>
              <a:t>Akash Rawat | A9920124013426(</a:t>
            </a:r>
            <a:r>
              <a:rPr dirty="0" err="1"/>
              <a:t>el</a:t>
            </a:r>
            <a:r>
              <a:rPr dirty="0"/>
              <a:t>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1630</Words>
  <Application>Microsoft Office PowerPoint</Application>
  <PresentationFormat>On-screen Show (4:3)</PresentationFormat>
  <Paragraphs>206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2026-05-30T19:50:34Z</dcterms:modified>
  <cp:category/>
</cp:coreProperties>
</file>